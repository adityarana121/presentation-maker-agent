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256" r:id="rId2"/>
    <p:sldId id="257" r:id="rId10"/>
    <p:sldId id="258" r:id="rId11"/>
    <p:sldId id="259" r:id="rId12"/>
    <p:sldId id="260" r:id="rId13"/>
    <p:sldId id="261" r:id="rId14"/>
    <p:sldId id="262" r:id="rId15"/>
    <p:sldId id="263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7293751-3916-5FD5-B827-ACC79B287C43}" name="sonal umbarkar" initials="su" userId="30fb602502d65dcd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7C4B8"/>
    <a:srgbClr val="2B23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964" autoAdjust="0"/>
    <p:restoredTop sz="94610"/>
  </p:normalViewPr>
  <p:slideViewPr>
    <p:cSldViewPr snapToGrid="0" snapToObjects="1">
      <p:cViewPr varScale="1">
        <p:scale>
          <a:sx n="77" d="100"/>
          <a:sy n="77" d="100"/>
        </p:scale>
        <p:origin x="1120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handoutMaster" Target="handoutMasters/handout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8/10/relationships/authors" Target="authors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D937AE6-48EB-3080-8607-75E137F5ED0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26A78D-FA49-4018-1C52-A9ECBF49237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D8DEB6-1D7D-466C-92D5-56E19732D7DE}" type="datetimeFigureOut">
              <a:rPr lang="en-IN" smtClean="0"/>
              <a:t>18-07-2026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4FD285-55D0-857D-C7B8-CC7A0595F27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C8BAA7-3FB7-363A-99A8-7B374CF5D29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4530E3-465A-4EAB-B0E0-67FD113E759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849214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303965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hyperlink" Target="http://www.tecmotivsolutions.com/" TargetMode="Externa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>
            <a:extLst>
              <a:ext uri="{FF2B5EF4-FFF2-40B4-BE49-F238E27FC236}">
                <a16:creationId xmlns:a16="http://schemas.microsoft.com/office/drawing/2014/main" id="{79278C9A-9F93-40A6-9756-D915A41032DA}"/>
              </a:ext>
            </a:extLst>
          </p:cNvPr>
          <p:cNvSpPr txBox="1"/>
          <p:nvPr userDrawn="1"/>
        </p:nvSpPr>
        <p:spPr>
          <a:xfrm>
            <a:off x="0" y="4935962"/>
            <a:ext cx="9144000" cy="200055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700" dirty="0">
                <a:solidFill>
                  <a:schemeClr val="bg1">
                    <a:lumMod val="95000"/>
                  </a:schemeClr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July 2026	   |   Confidential   		|   Strategic Discussion Document		  |   © 2026  |              </a:t>
            </a:r>
            <a:r>
              <a:rPr lang="en-IN" sz="700" dirty="0">
                <a:solidFill>
                  <a:schemeClr val="bg2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IN" sz="700" dirty="0">
                <a:solidFill>
                  <a:schemeClr val="bg2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www.tecmotivsolutions.com</a:t>
            </a:r>
            <a:r>
              <a:rPr lang="en-IN" sz="700" dirty="0">
                <a:solidFill>
                  <a:schemeClr val="bg1">
                    <a:lumMod val="95000"/>
                  </a:schemeClr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                                              </a:t>
            </a:r>
            <a:fld id="{652543D3-C09F-40A0-A7B7-6E94A10E78AD}" type="slidenum">
              <a:rPr lang="en-IN" sz="700" smtClean="0">
                <a:solidFill>
                  <a:schemeClr val="bg1">
                    <a:lumMod val="95000"/>
                  </a:schemeClr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‹#›</a:t>
            </a:fld>
            <a:endParaRPr lang="en-IN" sz="700" dirty="0">
              <a:solidFill>
                <a:schemeClr val="bg1">
                  <a:lumMod val="95000"/>
                </a:schemeClr>
              </a:solidFill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A74B85-3B1A-19FD-F6BA-B72D213324E2}"/>
              </a:ext>
            </a:extLst>
          </p:cNvPr>
          <p:cNvSpPr/>
          <p:nvPr userDrawn="1"/>
        </p:nvSpPr>
        <p:spPr>
          <a:xfrm>
            <a:off x="0" y="4917556"/>
            <a:ext cx="9144000" cy="27432"/>
          </a:xfrm>
          <a:prstGeom prst="rect">
            <a:avLst/>
          </a:prstGeom>
          <a:solidFill>
            <a:srgbClr val="27C4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F676816-07C2-9EEE-5FEC-E128032EED9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469956" y="-27431"/>
            <a:ext cx="674043" cy="674043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7C4B8"/>
                </a:solidFill>
                <a:latin typeface="Calibri"/>
              </a:defRPr>
            </a:pPr>
            <a:r>
              <a:t>EXECUTIVE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B4F6C"/>
                </a:solidFill>
                <a:latin typeface="Calibri Light"/>
              </a:defRPr>
            </a:pPr>
            <a:r>
              <a:t>Quantum Computing Strategic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468880"/>
            <a:ext cx="2286000" cy="36576"/>
          </a:xfrm>
          <a:prstGeom prst="rect">
            <a:avLst/>
          </a:prstGeom>
          <a:solidFill>
            <a:srgbClr val="27C4B8"/>
          </a:solidFill>
          <a:ln>
            <a:solidFill>
              <a:srgbClr val="27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2651760"/>
            <a:ext cx="7680960" cy="1371600"/>
          </a:xfrm>
          <a:prstGeom prst="roundRect">
            <a:avLst/>
          </a:prstGeom>
          <a:solidFill>
            <a:srgbClr val="F4F9F9"/>
          </a:solidFill>
          <a:ln w="12700">
            <a:solidFill>
              <a:srgbClr val="27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 rIns="274320"/>
          <a:lstStyle/>
          <a:p>
            <a:pPr algn="l">
              <a:spcAft>
                <a:spcPts val="800"/>
              </a:spcAft>
              <a:defRPr sz="1300">
                <a:solidFill>
                  <a:srgbClr val="1F2937"/>
                </a:solidFill>
                <a:latin typeface="Calibri"/>
              </a:defRPr>
            </a:pPr>
            <a:r>
              <a:t>Presented by: Tecmotiv Strategic Advisory</a:t>
            </a:r>
          </a:p>
          <a:p>
            <a:pPr algn="l">
              <a:spcAft>
                <a:spcPts val="800"/>
              </a:spcAft>
              <a:defRPr sz="1300">
                <a:solidFill>
                  <a:srgbClr val="1F2937"/>
                </a:solidFill>
                <a:latin typeface="Calibri"/>
              </a:defRPr>
            </a:pPr>
            <a:r>
              <a:t>Date: July 2026</a:t>
            </a:r>
          </a:p>
          <a:p>
            <a:pPr algn="l">
              <a:spcAft>
                <a:spcPts val="800"/>
              </a:spcAft>
              <a:defRPr sz="1300">
                <a:solidFill>
                  <a:srgbClr val="1F2937"/>
                </a:solidFill>
                <a:latin typeface="Calibri"/>
              </a:defRPr>
            </a:pPr>
            <a:r>
              <a:t>Strategic Objective: Quantum Computing Executive Discussion Document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768096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>
              <a:defRPr sz="1000" b="1">
                <a:solidFill>
                  <a:srgbClr val="27C4B8"/>
                </a:solidFill>
                <a:latin typeface="Calibri"/>
              </a:defRPr>
            </a:pPr>
            <a:r>
              <a:t>CLASSICAL COMPUTING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7680960" cy="7315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>
              <a:defRPr sz="1800" b="1">
                <a:solidFill>
                  <a:srgbClr val="0B4F6C"/>
                </a:solidFill>
                <a:latin typeface="Calibri Light"/>
              </a:defRPr>
            </a:pPr>
            <a:r>
              <a:t>Classical Computing Limitations and Quantum Challenges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53312"/>
            <a:ext cx="7680960" cy="2395728"/>
          </a:xfrm>
          <a:prstGeom prst="roundRect">
            <a:avLst/>
          </a:prstGeom>
          <a:solidFill>
            <a:srgbClr val="F4F9F9"/>
          </a:solidFill>
          <a:ln w="9525">
            <a:solidFill>
              <a:srgbClr val="27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274320" bIns="164592"/>
          <a:lstStyle/>
          <a:p>
            <a:pPr algn="l">
              <a:spcAft>
                <a:spcPts val="450"/>
              </a:spcAft>
            </a:pPr>
            <a:r>
              <a:rPr sz="1150" b="1">
                <a:solidFill>
                  <a:srgbClr val="0B4F6C"/>
                </a:solidFill>
                <a:latin typeface="Calibri"/>
              </a:rPr>
              <a:t>•  Computational Complexity: </a:t>
            </a:r>
            <a:r>
              <a:rPr sz="1150" b="0">
                <a:solidFill>
                  <a:srgbClr val="1F2937"/>
                </a:solidFill>
                <a:latin typeface="Calibri"/>
              </a:rPr>
              <a:t>Classical computers face exponential scaling challenges due to the curse of dimensionality.</a:t>
            </a:r>
          </a:p>
          <a:p>
            <a:pPr algn="l">
              <a:spcAft>
                <a:spcPts val="450"/>
              </a:spcAft>
            </a:pPr>
            <a:r>
              <a:rPr sz="1150" b="1">
                <a:solidFill>
                  <a:srgbClr val="0B4F6C"/>
                </a:solidFill>
                <a:latin typeface="Calibri"/>
              </a:rPr>
              <a:t>•  Environmental Decoherence: </a:t>
            </a:r>
            <a:r>
              <a:rPr sz="1150" b="0">
                <a:solidFill>
                  <a:srgbClr val="1F2937"/>
                </a:solidFill>
                <a:latin typeface="Calibri"/>
              </a:rPr>
              <a:t>Quantum systems are prone to decoherence caused by environmental noise and interactions.</a:t>
            </a:r>
          </a:p>
          <a:p>
            <a:pPr algn="l">
              <a:spcAft>
                <a:spcPts val="450"/>
              </a:spcAft>
            </a:pPr>
            <a:r>
              <a:rPr sz="1150" b="1">
                <a:solidFill>
                  <a:srgbClr val="0B4F6C"/>
                </a:solidFill>
                <a:latin typeface="Calibri"/>
              </a:rPr>
              <a:t>•  Physical Constraints: </a:t>
            </a:r>
            <a:r>
              <a:rPr sz="1150" b="0">
                <a:solidFill>
                  <a:srgbClr val="1F2937"/>
                </a:solidFill>
                <a:latin typeface="Calibri"/>
              </a:rPr>
              <a:t>Classical computers are limited by physical constraints such as power consumption and heat dissipation.</a:t>
            </a:r>
          </a:p>
          <a:p>
            <a:pPr algn="l">
              <a:spcAft>
                <a:spcPts val="450"/>
              </a:spcAft>
            </a:pPr>
            <a:r>
              <a:rPr sz="1150" b="1">
                <a:solidFill>
                  <a:srgbClr val="0B4F6C"/>
                </a:solidFill>
                <a:latin typeface="Calibri"/>
              </a:rPr>
              <a:t>•  Quantum Challenges: </a:t>
            </a:r>
            <a:r>
              <a:rPr sz="1150" b="0">
                <a:solidFill>
                  <a:srgbClr val="1F2937"/>
                </a:solidFill>
                <a:latin typeface="Calibri"/>
              </a:rPr>
              <a:t>Quantum computing introduces new challenges such as quantum noise, error correction, and control.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840480"/>
            <a:ext cx="7680960" cy="594360"/>
          </a:xfrm>
          <a:prstGeom prst="rect">
            <a:avLst/>
          </a:prstGeom>
          <a:solidFill>
            <a:srgbClr val="0B4F6C"/>
          </a:solidFill>
          <a:ln w="19050">
            <a:solidFill>
              <a:srgbClr val="27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l">
              <a:defRPr sz="1050" b="1">
                <a:solidFill>
                  <a:srgbClr val="FFFFFF"/>
                </a:solidFill>
                <a:latin typeface="Calibri"/>
              </a:defRPr>
            </a:pPr>
            <a:r>
              <a:t>KEY TAKEAWAY: Classical computing faces significant limitations in scalability, noise, and physical constraints, which quantum computing aims to address.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768096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>
              <a:defRPr sz="1000" b="1">
                <a:solidFill>
                  <a:srgbClr val="27C4B8"/>
                </a:solidFill>
                <a:latin typeface="Calibri"/>
              </a:defRPr>
            </a:pPr>
            <a:r>
              <a:t>HARDWARE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7680960" cy="7315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>
              <a:defRPr sz="1800" b="1">
                <a:solidFill>
                  <a:srgbClr val="0B4F6C"/>
                </a:solidFill>
                <a:latin typeface="Calibri Light"/>
              </a:defRPr>
            </a:pPr>
            <a:r>
              <a:t>Quantum Hardware Architectures and Qubit Implementations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53312"/>
            <a:ext cx="7680960" cy="2395728"/>
          </a:xfrm>
          <a:prstGeom prst="roundRect">
            <a:avLst/>
          </a:prstGeom>
          <a:solidFill>
            <a:srgbClr val="F4F9F9"/>
          </a:solidFill>
          <a:ln w="9525">
            <a:solidFill>
              <a:srgbClr val="27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274320" bIns="164592"/>
          <a:lstStyle/>
          <a:p>
            <a:pPr algn="l">
              <a:spcAft>
                <a:spcPts val="450"/>
              </a:spcAft>
            </a:pPr>
            <a:r>
              <a:rPr sz="1150" b="1">
                <a:solidFill>
                  <a:srgbClr val="0B4F6C"/>
                </a:solidFill>
                <a:latin typeface="Calibri"/>
              </a:rPr>
              <a:t>•  Superconducting Circuits: </a:t>
            </a:r>
            <a:r>
              <a:rPr sz="1150" b="0">
                <a:solidFill>
                  <a:srgbClr val="1F2937"/>
                </a:solidFill>
                <a:latin typeface="Calibri"/>
              </a:rPr>
              <a:t>Superconducting circuits use Josephson junctions to create qubits with high coherence times.</a:t>
            </a:r>
          </a:p>
          <a:p>
            <a:pPr algn="l">
              <a:spcAft>
                <a:spcPts val="450"/>
              </a:spcAft>
            </a:pPr>
            <a:r>
              <a:rPr sz="1150" b="1">
                <a:solidFill>
                  <a:srgbClr val="0B4F6C"/>
                </a:solidFill>
                <a:latin typeface="Calibri"/>
              </a:rPr>
              <a:t>•  Trapped Ion Modalities: </a:t>
            </a:r>
            <a:r>
              <a:rPr sz="1150" b="0">
                <a:solidFill>
                  <a:srgbClr val="1F2937"/>
                </a:solidFill>
                <a:latin typeface="Calibri"/>
              </a:rPr>
              <a:t>Trapped ions use electromagnetic fields to control and manipulate qubits with high precision.</a:t>
            </a:r>
          </a:p>
          <a:p>
            <a:pPr algn="l">
              <a:spcAft>
                <a:spcPts val="450"/>
              </a:spcAft>
            </a:pPr>
            <a:r>
              <a:rPr sz="1150" b="1">
                <a:solidFill>
                  <a:srgbClr val="0B4F6C"/>
                </a:solidFill>
                <a:latin typeface="Calibri"/>
              </a:rPr>
              <a:t>•  Quantum Dot Implementations: </a:t>
            </a:r>
            <a:r>
              <a:rPr sz="1150" b="0">
                <a:solidFill>
                  <a:srgbClr val="1F2937"/>
                </a:solidFill>
                <a:latin typeface="Calibri"/>
              </a:rPr>
              <a:t>Quantum dots use semiconductor materials to create qubits with high coherence times and low noise.</a:t>
            </a:r>
          </a:p>
          <a:p>
            <a:pPr algn="l">
              <a:spcAft>
                <a:spcPts val="450"/>
              </a:spcAft>
            </a:pPr>
            <a:r>
              <a:rPr sz="1150" b="1">
                <a:solidFill>
                  <a:srgbClr val="0B4F6C"/>
                </a:solidFill>
                <a:latin typeface="Calibri"/>
              </a:rPr>
              <a:t>•  Topological Qubit Implementations: </a:t>
            </a:r>
            <a:r>
              <a:rPr sz="1150" b="0">
                <a:solidFill>
                  <a:srgbClr val="1F2937"/>
                </a:solidFill>
                <a:latin typeface="Calibri"/>
              </a:rPr>
              <a:t>Topological qubits use exotic materials to create qubits with high coherence times and robustness against noise.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840480"/>
            <a:ext cx="7680960" cy="594360"/>
          </a:xfrm>
          <a:prstGeom prst="rect">
            <a:avLst/>
          </a:prstGeom>
          <a:solidFill>
            <a:srgbClr val="0B4F6C"/>
          </a:solidFill>
          <a:ln w="19050">
            <a:solidFill>
              <a:srgbClr val="27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l">
              <a:defRPr sz="1050" b="1">
                <a:solidFill>
                  <a:srgbClr val="FFFFFF"/>
                </a:solidFill>
                <a:latin typeface="Calibri"/>
              </a:defRPr>
            </a:pPr>
            <a:r>
              <a:t>KEY TAKEAWAY: Quantum hardware architectures and qubit implementations vary in their approach to coherence, noise, and control.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768096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>
              <a:defRPr sz="1000" b="1">
                <a:solidFill>
                  <a:srgbClr val="27C4B8"/>
                </a:solidFill>
                <a:latin typeface="Calibri"/>
              </a:defRPr>
            </a:pPr>
            <a:r>
              <a:t>QUANTUM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7680960" cy="7315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>
              <a:defRPr sz="1800" b="1">
                <a:solidFill>
                  <a:srgbClr val="0B4F6C"/>
                </a:solidFill>
                <a:latin typeface="Calibri Light"/>
              </a:defRPr>
            </a:pPr>
            <a:r>
              <a:t>Quantum Algorithms and Computational Speedups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53312"/>
            <a:ext cx="7680960" cy="2395728"/>
          </a:xfrm>
          <a:prstGeom prst="roundRect">
            <a:avLst/>
          </a:prstGeom>
          <a:solidFill>
            <a:srgbClr val="F4F9F9"/>
          </a:solidFill>
          <a:ln w="9525">
            <a:solidFill>
              <a:srgbClr val="27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274320" bIns="164592"/>
          <a:lstStyle/>
          <a:p>
            <a:pPr algn="l">
              <a:spcAft>
                <a:spcPts val="450"/>
              </a:spcAft>
            </a:pPr>
            <a:r>
              <a:rPr sz="1150" b="1">
                <a:solidFill>
                  <a:srgbClr val="0B4F6C"/>
                </a:solidFill>
                <a:latin typeface="Calibri"/>
              </a:rPr>
              <a:t>•  Shor's Factoring Algorithm: </a:t>
            </a:r>
            <a:r>
              <a:rPr sz="1150" b="0">
                <a:solidFill>
                  <a:srgbClr val="1F2937"/>
                </a:solidFill>
                <a:latin typeface="Calibri"/>
              </a:rPr>
              <a:t>Shor's algorithm uses quantum parallelism to factor large numbers exponentially faster than classical algorithms.</a:t>
            </a:r>
          </a:p>
          <a:p>
            <a:pPr algn="l">
              <a:spcAft>
                <a:spcPts val="450"/>
              </a:spcAft>
            </a:pPr>
            <a:r>
              <a:rPr sz="1150" b="1">
                <a:solidFill>
                  <a:srgbClr val="0B4F6C"/>
                </a:solidFill>
                <a:latin typeface="Calibri"/>
              </a:rPr>
              <a:t>•  Grover's Database Search Algorithm: </a:t>
            </a:r>
            <a:r>
              <a:rPr sz="1150" b="0">
                <a:solidFill>
                  <a:srgbClr val="1F2937"/>
                </a:solidFill>
                <a:latin typeface="Calibri"/>
              </a:rPr>
              <a:t>Grover's algorithm uses quantum parallelism to search unsorted databases exponentially faster than classical algorithms.</a:t>
            </a:r>
          </a:p>
          <a:p>
            <a:pPr algn="l">
              <a:spcAft>
                <a:spcPts val="450"/>
              </a:spcAft>
            </a:pPr>
            <a:r>
              <a:rPr sz="1150" b="1">
                <a:solidFill>
                  <a:srgbClr val="0B4F6C"/>
                </a:solidFill>
                <a:latin typeface="Calibri"/>
              </a:rPr>
              <a:t>•  Quantum Simulation and Optimization Algorithms: </a:t>
            </a:r>
            <a:r>
              <a:rPr sz="1150" b="0">
                <a:solidFill>
                  <a:srgbClr val="1F2937"/>
                </a:solidFill>
                <a:latin typeface="Calibri"/>
              </a:rPr>
              <a:t>Quantum simulation and optimization algorithms use quantum parallelism to solve complex problems in fields such as chemistry and materials science.</a:t>
            </a:r>
          </a:p>
          <a:p>
            <a:pPr algn="l">
              <a:spcAft>
                <a:spcPts val="450"/>
              </a:spcAft>
            </a:pPr>
            <a:r>
              <a:rPr sz="1150" b="1">
                <a:solidFill>
                  <a:srgbClr val="0B4F6C"/>
                </a:solidFill>
                <a:latin typeface="Calibri"/>
              </a:rPr>
              <a:t>•  Quantum Machine Learning Algorithms: </a:t>
            </a:r>
            <a:r>
              <a:rPr sz="1150" b="0">
                <a:solidFill>
                  <a:srgbClr val="1F2937"/>
                </a:solidFill>
                <a:latin typeface="Calibri"/>
              </a:rPr>
              <a:t>Quantum machine learning algorithms use quantum parallelism to speed up machine learning tasks such as clustering and classification.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840480"/>
            <a:ext cx="7680960" cy="594360"/>
          </a:xfrm>
          <a:prstGeom prst="rect">
            <a:avLst/>
          </a:prstGeom>
          <a:solidFill>
            <a:srgbClr val="0B4F6C"/>
          </a:solidFill>
          <a:ln w="19050">
            <a:solidFill>
              <a:srgbClr val="27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l">
              <a:defRPr sz="1050" b="1">
                <a:solidFill>
                  <a:srgbClr val="FFFFFF"/>
                </a:solidFill>
                <a:latin typeface="Calibri"/>
              </a:defRPr>
            </a:pPr>
            <a:r>
              <a:t>KEY TAKEAWAY: Quantum algorithms offer significant speedups over classical algorithms in specific domains, but require careful implementation and optimization.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768096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>
              <a:defRPr sz="1000" b="1">
                <a:solidFill>
                  <a:srgbClr val="27C4B8"/>
                </a:solidFill>
                <a:latin typeface="Calibri"/>
              </a:defRPr>
            </a:pPr>
            <a:r>
              <a:t>FAULT TOLERANCE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7680960" cy="7315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>
              <a:defRPr sz="1800" b="1">
                <a:solidFill>
                  <a:srgbClr val="0B4F6C"/>
                </a:solidFill>
                <a:latin typeface="Calibri Light"/>
              </a:defRPr>
            </a:pPr>
            <a:r>
              <a:t>Fault-Tolerant Quantum Computing and Error Correction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53312"/>
            <a:ext cx="7680960" cy="2395728"/>
          </a:xfrm>
          <a:prstGeom prst="roundRect">
            <a:avLst/>
          </a:prstGeom>
          <a:solidFill>
            <a:srgbClr val="F4F9F9"/>
          </a:solidFill>
          <a:ln w="9525">
            <a:solidFill>
              <a:srgbClr val="27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274320" bIns="164592"/>
          <a:lstStyle/>
          <a:p>
            <a:pPr algn="l">
              <a:spcAft>
                <a:spcPts val="450"/>
              </a:spcAft>
            </a:pPr>
            <a:r>
              <a:rPr sz="1150" b="1">
                <a:solidFill>
                  <a:srgbClr val="0B4F6C"/>
                </a:solidFill>
                <a:latin typeface="Calibri"/>
              </a:rPr>
              <a:t>•  Surface Code Topologies: </a:t>
            </a:r>
            <a:r>
              <a:rPr sz="1150" b="0">
                <a:solidFill>
                  <a:srgbClr val="1F2937"/>
                </a:solidFill>
                <a:latin typeface="Calibri"/>
              </a:rPr>
              <a:t>Surface codes use a 2D lattice of qubits to detect and correct errors with high fidelity.</a:t>
            </a:r>
          </a:p>
          <a:p>
            <a:pPr algn="l">
              <a:spcAft>
                <a:spcPts val="450"/>
              </a:spcAft>
            </a:pPr>
            <a:r>
              <a:rPr sz="1150" b="1">
                <a:solidFill>
                  <a:srgbClr val="0B4F6C"/>
                </a:solidFill>
                <a:latin typeface="Calibri"/>
              </a:rPr>
              <a:t>•  Error Thresholds and Physical-to-Logical Qubit Mapping: </a:t>
            </a:r>
            <a:r>
              <a:rPr sz="1150" b="0">
                <a:solidFill>
                  <a:srgbClr val="1F2937"/>
                </a:solidFill>
                <a:latin typeface="Calibri"/>
              </a:rPr>
              <a:t>Error thresholds determine the maximum error rate tolerated by a quantum computer, while physical-to-logical qubit mapping optimizes resource usage.</a:t>
            </a:r>
          </a:p>
          <a:p>
            <a:pPr algn="l">
              <a:spcAft>
                <a:spcPts val="450"/>
              </a:spcAft>
            </a:pPr>
            <a:r>
              <a:rPr sz="1150" b="1">
                <a:solidFill>
                  <a:srgbClr val="0B4F6C"/>
                </a:solidFill>
                <a:latin typeface="Calibri"/>
              </a:rPr>
              <a:t>•  Quantum Error Correction Codes and Techniques: </a:t>
            </a:r>
            <a:r>
              <a:rPr sz="1150" b="0">
                <a:solidFill>
                  <a:srgbClr val="1F2937"/>
                </a:solidFill>
                <a:latin typeface="Calibri"/>
              </a:rPr>
              <a:t>Quantum error correction codes and techniques such as Steane's code and concatenated codes mitigate the effects of noise and errors.</a:t>
            </a:r>
          </a:p>
          <a:p>
            <a:pPr algn="l">
              <a:spcAft>
                <a:spcPts val="450"/>
              </a:spcAft>
            </a:pPr>
            <a:r>
              <a:rPr sz="1150" b="1">
                <a:solidFill>
                  <a:srgbClr val="0B4F6C"/>
                </a:solidFill>
                <a:latin typeface="Calibri"/>
              </a:rPr>
              <a:t>•  Fault-Tolerant Quantum Computing Architectures: </a:t>
            </a:r>
            <a:r>
              <a:rPr sz="1150" b="0">
                <a:solidFill>
                  <a:srgbClr val="1F2937"/>
                </a:solidFill>
                <a:latin typeface="Calibri"/>
              </a:rPr>
              <a:t>Fault-tolerant quantum computing architectures such as the surface code and topological code enable reliable and scalable quantum computing.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840480"/>
            <a:ext cx="7680960" cy="594360"/>
          </a:xfrm>
          <a:prstGeom prst="rect">
            <a:avLst/>
          </a:prstGeom>
          <a:solidFill>
            <a:srgbClr val="0B4F6C"/>
          </a:solidFill>
          <a:ln w="19050">
            <a:solidFill>
              <a:srgbClr val="27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l">
              <a:defRPr sz="1050" b="1">
                <a:solidFill>
                  <a:srgbClr val="FFFFFF"/>
                </a:solidFill>
                <a:latin typeface="Calibri"/>
              </a:defRPr>
            </a:pPr>
            <a:r>
              <a:t>KEY TAKEAWAY: Fault-tolerant quantum computing and error correction are essential for reliable and scalable quantum computing, but require careful design and implementation.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768096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>
              <a:defRPr sz="1000" b="1">
                <a:solidFill>
                  <a:srgbClr val="27C4B8"/>
                </a:solidFill>
                <a:latin typeface="Calibri"/>
              </a:defRPr>
            </a:pPr>
            <a:r>
              <a:t>ENTERPRISE APPLICATIONS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7680960" cy="7315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>
              <a:defRPr sz="1800" b="1">
                <a:solidFill>
                  <a:srgbClr val="0B4F6C"/>
                </a:solidFill>
                <a:latin typeface="Calibri Light"/>
              </a:defRPr>
            </a:pPr>
            <a:r>
              <a:t>Practical Enterprise Applications and Industry Use Cases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53312"/>
            <a:ext cx="7680960" cy="2395728"/>
          </a:xfrm>
          <a:prstGeom prst="roundRect">
            <a:avLst/>
          </a:prstGeom>
          <a:solidFill>
            <a:srgbClr val="F4F9F9"/>
          </a:solidFill>
          <a:ln w="9525">
            <a:solidFill>
              <a:srgbClr val="27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274320" bIns="164592"/>
          <a:lstStyle/>
          <a:p>
            <a:pPr algn="l">
              <a:spcAft>
                <a:spcPts val="450"/>
              </a:spcAft>
            </a:pPr>
            <a:r>
              <a:rPr sz="1150" b="1">
                <a:solidFill>
                  <a:srgbClr val="0B4F6C"/>
                </a:solidFill>
                <a:latin typeface="Calibri"/>
              </a:rPr>
              <a:t>•  Post-Quantum Cryptography and Secure Communication: </a:t>
            </a:r>
            <a:r>
              <a:rPr sz="1150" b="0">
                <a:solidFill>
                  <a:srgbClr val="1F2937"/>
                </a:solidFill>
                <a:latin typeface="Calibri"/>
              </a:rPr>
              <a:t>Post-quantum cryptography uses quantum-resistant algorithms to secure communication in the face of quantum computing threats.</a:t>
            </a:r>
          </a:p>
          <a:p>
            <a:pPr algn="l">
              <a:spcAft>
                <a:spcPts val="450"/>
              </a:spcAft>
            </a:pPr>
            <a:r>
              <a:rPr sz="1150" b="1">
                <a:solidFill>
                  <a:srgbClr val="0B4F6C"/>
                </a:solidFill>
                <a:latin typeface="Calibri"/>
              </a:rPr>
              <a:t>•  Financial Portfolio Optimization and Risk Analysis: </a:t>
            </a:r>
            <a:r>
              <a:rPr sz="1150" b="0">
                <a:solidFill>
                  <a:srgbClr val="1F2937"/>
                </a:solidFill>
                <a:latin typeface="Calibri"/>
              </a:rPr>
              <a:t>Quantum computing optimizes financial portfolios and analyzes risk using complex simulations and machine learning algorithms.</a:t>
            </a:r>
          </a:p>
          <a:p>
            <a:pPr algn="l">
              <a:spcAft>
                <a:spcPts val="450"/>
              </a:spcAft>
            </a:pPr>
            <a:r>
              <a:rPr sz="1150" b="1">
                <a:solidFill>
                  <a:srgbClr val="0B4F6C"/>
                </a:solidFill>
                <a:latin typeface="Calibri"/>
              </a:rPr>
              <a:t>•  Material Simulation and Chemical Discovery: </a:t>
            </a:r>
            <a:r>
              <a:rPr sz="1150" b="0">
                <a:solidFill>
                  <a:srgbClr val="1F2937"/>
                </a:solidFill>
                <a:latin typeface="Calibri"/>
              </a:rPr>
              <a:t>Quantum computing simulates material properties and discovers new materials using quantum algorithms and machine learning techniques.</a:t>
            </a:r>
          </a:p>
          <a:p>
            <a:pPr algn="l">
              <a:spcAft>
                <a:spcPts val="450"/>
              </a:spcAft>
            </a:pPr>
            <a:r>
              <a:rPr sz="1150" b="1">
                <a:solidFill>
                  <a:srgbClr val="0B4F6C"/>
                </a:solidFill>
                <a:latin typeface="Calibri"/>
              </a:rPr>
              <a:t>•  Supply Chain Optimization and Logistics: </a:t>
            </a:r>
            <a:r>
              <a:rPr sz="1150" b="0">
                <a:solidFill>
                  <a:srgbClr val="1F2937"/>
                </a:solidFill>
                <a:latin typeface="Calibri"/>
              </a:rPr>
              <a:t>Quantum computing optimizes supply chains and logistics using complex simulations and machine learning algorithms.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840480"/>
            <a:ext cx="7680960" cy="594360"/>
          </a:xfrm>
          <a:prstGeom prst="rect">
            <a:avLst/>
          </a:prstGeom>
          <a:solidFill>
            <a:srgbClr val="0B4F6C"/>
          </a:solidFill>
          <a:ln w="19050">
            <a:solidFill>
              <a:srgbClr val="27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l">
              <a:defRPr sz="1050" b="1">
                <a:solidFill>
                  <a:srgbClr val="FFFFFF"/>
                </a:solidFill>
                <a:latin typeface="Calibri"/>
              </a:defRPr>
            </a:pPr>
            <a:r>
              <a:t>KEY TAKEAWAY: Quantum computing has significant practical applications in enterprise domains such as cryptography, finance, materials science, and logistics.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768096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>
              <a:defRPr sz="1000" b="1">
                <a:solidFill>
                  <a:srgbClr val="27C4B8"/>
                </a:solidFill>
                <a:latin typeface="Calibri"/>
              </a:defRPr>
            </a:pPr>
            <a:r>
              <a:t>BENCHMARKS &amp;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7680960" cy="7315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>
              <a:defRPr sz="1800" b="1">
                <a:solidFill>
                  <a:srgbClr val="0B4F6C"/>
                </a:solidFill>
                <a:latin typeface="Calibri Light"/>
              </a:defRPr>
            </a:pPr>
            <a:r>
              <a:t>Operational Benchmarks, Quantum Volume Metrics, and Hardware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53312"/>
            <a:ext cx="7680960" cy="2395728"/>
          </a:xfrm>
          <a:prstGeom prst="roundRect">
            <a:avLst/>
          </a:prstGeom>
          <a:solidFill>
            <a:srgbClr val="F4F9F9"/>
          </a:solidFill>
          <a:ln w="9525">
            <a:solidFill>
              <a:srgbClr val="27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274320" bIns="164592"/>
          <a:lstStyle/>
          <a:p>
            <a:pPr algn="l">
              <a:spcAft>
                <a:spcPts val="450"/>
              </a:spcAft>
            </a:pPr>
            <a:r>
              <a:rPr sz="1150" b="1">
                <a:solidFill>
                  <a:srgbClr val="0B4F6C"/>
                </a:solidFill>
                <a:latin typeface="Calibri"/>
              </a:rPr>
              <a:t>•  Quantum Volume and Benchmarking Metrics: </a:t>
            </a:r>
            <a:r>
              <a:rPr sz="1150" b="0">
                <a:solidFill>
                  <a:srgbClr val="1F2937"/>
                </a:solidFill>
                <a:latin typeface="Calibri"/>
              </a:rPr>
              <a:t>Quantum volume and benchmarking metrics such as the IBM Quantum Volume and the Google Quantum Volume measure the performance and scalability of quantum computers.</a:t>
            </a:r>
          </a:p>
          <a:p>
            <a:pPr algn="l">
              <a:spcAft>
                <a:spcPts val="450"/>
              </a:spcAft>
            </a:pPr>
            <a:r>
              <a:rPr sz="1150" b="1">
                <a:solidFill>
                  <a:srgbClr val="0B4F6C"/>
                </a:solidFill>
                <a:latin typeface="Calibri"/>
              </a:rPr>
              <a:t>•  Hardware Roadmap and Development Timelines: </a:t>
            </a:r>
            <a:r>
              <a:rPr sz="1150" b="0">
                <a:solidFill>
                  <a:srgbClr val="1F2937"/>
                </a:solidFill>
                <a:latin typeface="Calibri"/>
              </a:rPr>
              <a:t>Hardware roadmaps and development timelines outline the progress and milestones of quantum computing hardware development.</a:t>
            </a:r>
          </a:p>
          <a:p>
            <a:pPr algn="l">
              <a:spcAft>
                <a:spcPts val="450"/>
              </a:spcAft>
            </a:pPr>
            <a:r>
              <a:rPr sz="1150" b="1">
                <a:solidFill>
                  <a:srgbClr val="0B4F6C"/>
                </a:solidFill>
                <a:latin typeface="Calibri"/>
              </a:rPr>
              <a:t>•  Operational Performance and Reliability Metrics: </a:t>
            </a:r>
            <a:r>
              <a:rPr sz="1150" b="0">
                <a:solidFill>
                  <a:srgbClr val="1F2937"/>
                </a:solidFill>
                <a:latin typeface="Calibri"/>
              </a:rPr>
              <a:t>Operational performance and reliability metrics such as qubit coherence times and error rates measure the reliability and performance of quantum computers.</a:t>
            </a:r>
          </a:p>
          <a:p>
            <a:pPr algn="l">
              <a:spcAft>
                <a:spcPts val="450"/>
              </a:spcAft>
            </a:pPr>
            <a:r>
              <a:rPr sz="1150" b="1">
                <a:solidFill>
                  <a:srgbClr val="0B4F6C"/>
                </a:solidFill>
                <a:latin typeface="Calibri"/>
              </a:rPr>
              <a:t>•  Quantum Computing Industry Standards and Certifications: </a:t>
            </a:r>
            <a:r>
              <a:rPr sz="1150" b="0">
                <a:solidFill>
                  <a:srgbClr val="1F2937"/>
                </a:solidFill>
                <a:latin typeface="Calibri"/>
              </a:rPr>
              <a:t>Quantum computing industry standards and certifications such as the Quantum Computing Industry Consortium (QCIC) and the International Organization for Standardization (ISO) establish best practices and guidelines for quantum computing.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840480"/>
            <a:ext cx="7680960" cy="594360"/>
          </a:xfrm>
          <a:prstGeom prst="rect">
            <a:avLst/>
          </a:prstGeom>
          <a:solidFill>
            <a:srgbClr val="0B4F6C"/>
          </a:solidFill>
          <a:ln w="19050">
            <a:solidFill>
              <a:srgbClr val="27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l">
              <a:defRPr sz="1050" b="1">
                <a:solidFill>
                  <a:srgbClr val="FFFFFF"/>
                </a:solidFill>
                <a:latin typeface="Calibri"/>
              </a:defRPr>
            </a:pPr>
            <a:r>
              <a:t>KEY TAKEAWAY: Quantum computing benchmarks, metrics, and industry standards provide a framework for evaluating and comparing quantum computing performance and reliability.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768096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>
              <a:defRPr sz="1000" b="1">
                <a:solidFill>
                  <a:srgbClr val="27C4B8"/>
                </a:solidFill>
                <a:latin typeface="Calibri"/>
              </a:defRPr>
            </a:pPr>
            <a:r>
              <a:t>STRATEGIC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7680960" cy="7315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>
              <a:defRPr sz="1800" b="1">
                <a:solidFill>
                  <a:srgbClr val="0B4F6C"/>
                </a:solidFill>
                <a:latin typeface="Calibri Light"/>
              </a:defRPr>
            </a:pPr>
            <a:r>
              <a:t>Strategic Recommendations, Governance, and Enterprise Action Plan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53312"/>
            <a:ext cx="7680960" cy="2395728"/>
          </a:xfrm>
          <a:prstGeom prst="roundRect">
            <a:avLst/>
          </a:prstGeom>
          <a:solidFill>
            <a:srgbClr val="F4F9F9"/>
          </a:solidFill>
          <a:ln w="9525">
            <a:solidFill>
              <a:srgbClr val="27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274320" bIns="164592"/>
          <a:lstStyle/>
          <a:p>
            <a:pPr algn="l">
              <a:spcAft>
                <a:spcPts val="450"/>
              </a:spcAft>
            </a:pPr>
            <a:r>
              <a:rPr sz="1150" b="1">
                <a:solidFill>
                  <a:srgbClr val="0B4F6C"/>
                </a:solidFill>
                <a:latin typeface="Calibri"/>
              </a:rPr>
              <a:t>•  Quantum Computing Strategy and Roadmap: </a:t>
            </a:r>
            <a:r>
              <a:rPr sz="1150" b="0">
                <a:solidFill>
                  <a:srgbClr val="1F2937"/>
                </a:solidFill>
                <a:latin typeface="Calibri"/>
              </a:rPr>
              <a:t>A quantum computing strategy and roadmap outlines the goals, objectives, and milestones of a quantum computing initiative.</a:t>
            </a:r>
          </a:p>
          <a:p>
            <a:pPr algn="l">
              <a:spcAft>
                <a:spcPts val="450"/>
              </a:spcAft>
            </a:pPr>
            <a:r>
              <a:rPr sz="1150" b="1">
                <a:solidFill>
                  <a:srgbClr val="0B4F6C"/>
                </a:solidFill>
                <a:latin typeface="Calibri"/>
              </a:rPr>
              <a:t>•  Governance and Risk Management Frameworks: </a:t>
            </a:r>
            <a:r>
              <a:rPr sz="1150" b="0">
                <a:solidFill>
                  <a:srgbClr val="1F2937"/>
                </a:solidFill>
                <a:latin typeface="Calibri"/>
              </a:rPr>
              <a:t>Governance and risk management frameworks establish policies, procedures, and controls for quantum computing development and deployment.</a:t>
            </a:r>
          </a:p>
          <a:p>
            <a:pPr algn="l">
              <a:spcAft>
                <a:spcPts val="450"/>
              </a:spcAft>
            </a:pPr>
            <a:r>
              <a:rPr sz="1150" b="1">
                <a:solidFill>
                  <a:srgbClr val="0B4F6C"/>
                </a:solidFill>
                <a:latin typeface="Calibri"/>
              </a:rPr>
              <a:t>•  Enterprise Action Plan and Implementation Roadmap: </a:t>
            </a:r>
            <a:r>
              <a:rPr sz="1150" b="0">
                <a:solidFill>
                  <a:srgbClr val="1F2937"/>
                </a:solidFill>
                <a:latin typeface="Calibri"/>
              </a:rPr>
              <a:t>An enterprise action plan and implementation roadmap outlines the steps and timelines for implementing quantum computing solutions and services.</a:t>
            </a:r>
          </a:p>
          <a:p>
            <a:pPr algn="l">
              <a:spcAft>
                <a:spcPts val="450"/>
              </a:spcAft>
            </a:pPr>
            <a:r>
              <a:rPr sz="1150" b="1">
                <a:solidFill>
                  <a:srgbClr val="0B4F6C"/>
                </a:solidFill>
                <a:latin typeface="Calibri"/>
              </a:rPr>
              <a:t>•  Quantum Computing Talent Acquisition and Training: </a:t>
            </a:r>
            <a:r>
              <a:rPr sz="1150" b="0">
                <a:solidFill>
                  <a:srgbClr val="1F2937"/>
                </a:solidFill>
                <a:latin typeface="Calibri"/>
              </a:rPr>
              <a:t>Quantum computing talent acquisition and training programs develop the skills and expertise needed for quantum computing development and deployment.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840480"/>
            <a:ext cx="7680960" cy="594360"/>
          </a:xfrm>
          <a:prstGeom prst="rect">
            <a:avLst/>
          </a:prstGeom>
          <a:solidFill>
            <a:srgbClr val="0B4F6C"/>
          </a:solidFill>
          <a:ln w="19050">
            <a:solidFill>
              <a:srgbClr val="27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l">
              <a:defRPr sz="1050" b="1">
                <a:solidFill>
                  <a:srgbClr val="FFFFFF"/>
                </a:solidFill>
                <a:latin typeface="Calibri"/>
              </a:defRPr>
            </a:pPr>
            <a:r>
              <a:t>KEY TAKEAWAY: A well-planned quantum computing strategy, governance framework, and action plan are essential for successful quantum computing adoption and deployment.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948</TotalTime>
  <Words>1</Words>
  <Application>Microsoft Office PowerPoint</Application>
  <PresentationFormat>On-screen Show (16:9)</PresentationFormat>
  <Paragraphs>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Sans Serif Collection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IMDX – India Mobility Intelligence Exchange</dc:title>
  <dc:subject>PptxGenJS Presentation</dc:subject>
  <dc:creator>PptxGenJS</dc:creator>
  <cp:lastModifiedBy>Yogesh Umbarkar</cp:lastModifiedBy>
  <cp:revision>117</cp:revision>
  <dcterms:created xsi:type="dcterms:W3CDTF">2026-05-18T14:02:09Z</dcterms:created>
  <dcterms:modified xsi:type="dcterms:W3CDTF">2026-07-18T10:45:16Z</dcterms:modified>
</cp:coreProperties>
</file>