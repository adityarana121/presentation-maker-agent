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6" r:id="rId2"/>
    <p:sldId id="257" r:id="rId10"/>
    <p:sldId id="258" r:id="rId11"/>
    <p:sldId id="259" r:id="rId12"/>
    <p:sldId id="260" r:id="rId13"/>
    <p:sldId id="261" r:id="rId14"/>
    <p:sldId id="262" r:id="rId15"/>
    <p:sldId id="263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7293751-3916-5FD5-B827-ACC79B287C43}" name="sonal umbarkar" initials="su" userId="30fb602502d65dcd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C4B8"/>
    <a:srgbClr val="2B23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964" autoAdjust="0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112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8/10/relationships/authors" Target="authors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D937AE6-48EB-3080-8607-75E137F5ED0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26A78D-FA49-4018-1C52-A9ECBF4923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D8DEB6-1D7D-466C-92D5-56E19732D7DE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4FD285-55D0-857D-C7B8-CC7A0595F27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C8BAA7-3FB7-363A-99A8-7B374CF5D29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4530E3-465A-4EAB-B0E0-67FD113E759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849214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303965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hyperlink" Target="http://www.tecmotivsolutions.com/" TargetMode="Externa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79278C9A-9F93-40A6-9756-D915A41032DA}"/>
              </a:ext>
            </a:extLst>
          </p:cNvPr>
          <p:cNvSpPr txBox="1"/>
          <p:nvPr userDrawn="1"/>
        </p:nvSpPr>
        <p:spPr>
          <a:xfrm>
            <a:off x="0" y="4935962"/>
            <a:ext cx="9144000" cy="200055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700" dirty="0">
                <a:solidFill>
                  <a:schemeClr val="bg1">
                    <a:lumMod val="95000"/>
                  </a:schemeClr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July 2026	   |   Confidential   		|   Strategic Discussion Document		  |   © 2026  |              </a:t>
            </a:r>
            <a:r>
              <a:rPr lang="en-IN" sz="700" dirty="0">
                <a:solidFill>
                  <a:schemeClr val="bg2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IN" sz="700" dirty="0">
                <a:solidFill>
                  <a:schemeClr val="bg2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www.tecmotivsolutions.com</a:t>
            </a:r>
            <a:r>
              <a:rPr lang="en-IN" sz="700" dirty="0">
                <a:solidFill>
                  <a:schemeClr val="bg1">
                    <a:lumMod val="95000"/>
                  </a:schemeClr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                                             </a:t>
            </a:r>
            <a:fld id="{652543D3-C09F-40A0-A7B7-6E94A10E78AD}" type="slidenum">
              <a:rPr lang="en-IN" sz="700" smtClean="0">
                <a:solidFill>
                  <a:schemeClr val="bg1">
                    <a:lumMod val="95000"/>
                  </a:schemeClr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‹#›</a:t>
            </a:fld>
            <a:endParaRPr lang="en-IN" sz="700" dirty="0">
              <a:solidFill>
                <a:schemeClr val="bg1">
                  <a:lumMod val="95000"/>
                </a:schemeClr>
              </a:solidFill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A74B85-3B1A-19FD-F6BA-B72D213324E2}"/>
              </a:ext>
            </a:extLst>
          </p:cNvPr>
          <p:cNvSpPr/>
          <p:nvPr userDrawn="1"/>
        </p:nvSpPr>
        <p:spPr>
          <a:xfrm>
            <a:off x="0" y="4917556"/>
            <a:ext cx="9144000" cy="27432"/>
          </a:xfrm>
          <a:prstGeom prst="rect">
            <a:avLst/>
          </a:prstGeom>
          <a:solidFill>
            <a:srgbClr val="27C4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676816-07C2-9EEE-5FEC-E128032EED9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469956" y="-27431"/>
            <a:ext cx="674043" cy="67404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C4B8"/>
                </a:solidFill>
                <a:latin typeface="Calibri"/>
              </a:defRPr>
            </a:pPr>
            <a:r>
              <a:t>EXECUTIVE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B4F6C"/>
                </a:solidFill>
                <a:latin typeface="Calibri Light"/>
              </a:defRPr>
            </a:pPr>
            <a:r>
              <a:t>Quantum Computing Strategic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468880"/>
            <a:ext cx="2286000" cy="36576"/>
          </a:xfrm>
          <a:prstGeom prst="rect">
            <a:avLst/>
          </a:prstGeom>
          <a:solidFill>
            <a:srgbClr val="27C4B8"/>
          </a:solidFill>
          <a:ln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651760"/>
            <a:ext cx="7680960" cy="1371600"/>
          </a:xfrm>
          <a:prstGeom prst="roundRect">
            <a:avLst/>
          </a:prstGeom>
          <a:solidFill>
            <a:srgbClr val="F4F9F9"/>
          </a:solidFill>
          <a:ln w="12700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 rIns="274320"/>
          <a:lstStyle/>
          <a:p>
            <a:pPr algn="l">
              <a:spcAft>
                <a:spcPts val="800"/>
              </a:spcAft>
              <a:defRPr sz="1300">
                <a:solidFill>
                  <a:srgbClr val="1F2937"/>
                </a:solidFill>
                <a:latin typeface="Calibri"/>
              </a:defRPr>
            </a:pPr>
            <a:r>
              <a:t>Presented by: Tecmotiv Strategic Advisory</a:t>
            </a:r>
          </a:p>
          <a:p>
            <a:pPr algn="l">
              <a:spcAft>
                <a:spcPts val="800"/>
              </a:spcAft>
              <a:defRPr sz="1300">
                <a:solidFill>
                  <a:srgbClr val="1F2937"/>
                </a:solidFill>
                <a:latin typeface="Calibri"/>
              </a:defRPr>
            </a:pPr>
            <a:r>
              <a:t>Date: July 2026</a:t>
            </a:r>
          </a:p>
          <a:p>
            <a:pPr algn="l">
              <a:spcAft>
                <a:spcPts val="800"/>
              </a:spcAft>
              <a:defRPr sz="1300">
                <a:solidFill>
                  <a:srgbClr val="1F2937"/>
                </a:solidFill>
                <a:latin typeface="Calibri"/>
              </a:defRPr>
            </a:pPr>
            <a:r>
              <a:t>Strategic Objective: Quantum Computing Executive Discussion Document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000" b="1">
                <a:solidFill>
                  <a:srgbClr val="27C4B8"/>
                </a:solidFill>
                <a:latin typeface="Calibri"/>
              </a:defRPr>
            </a:pPr>
            <a:r>
              <a:t>CLASSICAL COMPUTING CONSTRAINTS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768096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2200" b="1">
                <a:solidFill>
                  <a:srgbClr val="0B4F6C"/>
                </a:solidFill>
                <a:latin typeface="Calibri Light"/>
              </a:defRPr>
            </a:pPr>
            <a:r>
              <a:t>Classical Computing Limitations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7680960" cy="2514600"/>
          </a:xfrm>
          <a:prstGeom prst="roundRect">
            <a:avLst/>
          </a:prstGeom>
          <a:solidFill>
            <a:srgbClr val="F4F9F9"/>
          </a:solidFill>
          <a:ln w="9525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 bIns="164592"/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Moore's Law Constraints: </a:t>
            </a:r>
            <a:r>
              <a:rPr sz="1300" b="0">
                <a:solidFill>
                  <a:srgbClr val="1F2937"/>
                </a:solidFill>
                <a:latin typeface="Calibri"/>
              </a:rPr>
              <a:t>Transistor density and clock speed scaling limits reached.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Quantum Noise and Decoherence: </a:t>
            </a:r>
            <a:r>
              <a:rPr sz="1300" b="0">
                <a:solidFill>
                  <a:srgbClr val="1F2937"/>
                </a:solidFill>
                <a:latin typeface="Calibri"/>
              </a:rPr>
              <a:t>Uncontrolled physical interactions disrupt quantum states.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Physical Challenges in Scaling: </a:t>
            </a:r>
            <a:r>
              <a:rPr sz="1300" b="0">
                <a:solidFill>
                  <a:srgbClr val="1F2937"/>
                </a:solidFill>
                <a:latin typeface="Calibri"/>
              </a:rPr>
              <a:t>Heat dissipation, power consumption, and material limitations.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840480"/>
            <a:ext cx="7680960" cy="594360"/>
          </a:xfrm>
          <a:prstGeom prst="rect">
            <a:avLst/>
          </a:prstGeom>
          <a:solidFill>
            <a:srgbClr val="0B4F6C"/>
          </a:solidFill>
          <a:ln w="19050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KEY TAKEAWAY: Classical computing faces fundamental scaling and noise limitations.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000" b="1">
                <a:solidFill>
                  <a:srgbClr val="27C4B8"/>
                </a:solidFill>
                <a:latin typeface="Calibri"/>
              </a:defRPr>
            </a:pPr>
            <a:r>
              <a:t>HARDWARE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768096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2200" b="1">
                <a:solidFill>
                  <a:srgbClr val="0B4F6C"/>
                </a:solidFill>
                <a:latin typeface="Calibri Light"/>
              </a:defRPr>
            </a:pPr>
            <a:r>
              <a:t>Quantum Hardware Architectures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7680960" cy="2514600"/>
          </a:xfrm>
          <a:prstGeom prst="roundRect">
            <a:avLst/>
          </a:prstGeom>
          <a:solidFill>
            <a:srgbClr val="F4F9F9"/>
          </a:solidFill>
          <a:ln w="9525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 bIns="164592"/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Superconducting Circuits: </a:t>
            </a:r>
            <a:r>
              <a:rPr sz="1300" b="0">
                <a:solidFill>
                  <a:srgbClr val="1F2937"/>
                </a:solidFill>
                <a:latin typeface="Calibri"/>
              </a:rPr>
              <a:t>Coaxial resonators and Josephson junctions enable qubit control.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Trapped Ion Modalities: </a:t>
            </a:r>
            <a:r>
              <a:rPr sz="1300" b="0">
                <a:solidFill>
                  <a:srgbClr val="1F2937"/>
                </a:solidFill>
                <a:latin typeface="Calibri"/>
              </a:rPr>
              <a:t>Ion trapping and manipulation for precise quantum control.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Quantum Dot Implementations: </a:t>
            </a:r>
            <a:r>
              <a:rPr sz="1300" b="0">
                <a:solidFill>
                  <a:srgbClr val="1F2937"/>
                </a:solidFill>
                <a:latin typeface="Calibri"/>
              </a:rPr>
              <a:t>Quantum confinement and manipulation in semiconductor systems.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840480"/>
            <a:ext cx="7680960" cy="594360"/>
          </a:xfrm>
          <a:prstGeom prst="rect">
            <a:avLst/>
          </a:prstGeom>
          <a:solidFill>
            <a:srgbClr val="0B4F6C"/>
          </a:solidFill>
          <a:ln w="19050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KEY TAKEAWAY: Quantum hardware architectures offer diverse approaches to qubit control and manipulation.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000" b="1">
                <a:solidFill>
                  <a:srgbClr val="27C4B8"/>
                </a:solidFill>
                <a:latin typeface="Calibri"/>
              </a:defRPr>
            </a:pPr>
            <a:r>
              <a:t>QUANTUM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768096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2200" b="1">
                <a:solidFill>
                  <a:srgbClr val="0B4F6C"/>
                </a:solidFill>
                <a:latin typeface="Calibri Light"/>
              </a:defRPr>
            </a:pPr>
            <a:r>
              <a:t>Quantum Algorithms and Speedups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7680960" cy="2514600"/>
          </a:xfrm>
          <a:prstGeom prst="roundRect">
            <a:avLst/>
          </a:prstGeom>
          <a:solidFill>
            <a:srgbClr val="F4F9F9"/>
          </a:solidFill>
          <a:ln w="9525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 bIns="164592"/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Shor's Factoring Algorithm: </a:t>
            </a:r>
            <a:r>
              <a:rPr sz="1300" b="0">
                <a:solidFill>
                  <a:srgbClr val="1F2937"/>
                </a:solidFill>
                <a:latin typeface="Calibri"/>
              </a:rPr>
              <a:t>Efficient prime factorization for cryptography and security.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Grover's Database Search Algorithm: </a:t>
            </a:r>
            <a:r>
              <a:rPr sz="1300" b="0">
                <a:solidFill>
                  <a:srgbClr val="1F2937"/>
                </a:solidFill>
                <a:latin typeface="Calibri"/>
              </a:rPr>
              <a:t>Quadratic speedup for unstructured search problems.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Quantum Parallelism and Interference: </a:t>
            </a:r>
            <a:r>
              <a:rPr sz="1300" b="0">
                <a:solidFill>
                  <a:srgbClr val="1F2937"/>
                </a:solidFill>
                <a:latin typeface="Calibri"/>
              </a:rPr>
              <a:t>Harnessing entanglement for exponential speedup.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840480"/>
            <a:ext cx="7680960" cy="594360"/>
          </a:xfrm>
          <a:prstGeom prst="rect">
            <a:avLst/>
          </a:prstGeom>
          <a:solidFill>
            <a:srgbClr val="0B4F6C"/>
          </a:solidFill>
          <a:ln w="19050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KEY TAKEAWAY: Quantum algorithms offer significant speedup and efficiency advantages over classical computing.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000" b="1">
                <a:solidFill>
                  <a:srgbClr val="27C4B8"/>
                </a:solidFill>
                <a:latin typeface="Calibri"/>
              </a:defRPr>
            </a:pPr>
            <a:r>
              <a:t>FAULT TOLERANCE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768096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2200" b="1">
                <a:solidFill>
                  <a:srgbClr val="0B4F6C"/>
                </a:solidFill>
                <a:latin typeface="Calibri Light"/>
              </a:defRPr>
            </a:pPr>
            <a:r>
              <a:t>Fault-Tolerant Quantum Computing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7680960" cy="2514600"/>
          </a:xfrm>
          <a:prstGeom prst="roundRect">
            <a:avLst/>
          </a:prstGeom>
          <a:solidFill>
            <a:srgbClr val="F4F9F9"/>
          </a:solidFill>
          <a:ln w="9525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 bIns="164592"/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Surface Code Topologies: </a:t>
            </a:r>
            <a:r>
              <a:rPr sz="1300" b="0">
                <a:solidFill>
                  <a:srgbClr val="1F2937"/>
                </a:solidFill>
                <a:latin typeface="Calibri"/>
              </a:rPr>
              <a:t>Lattice-based error correction for robust quantum computing.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Physical-to-Logical Qubit Overhead: </a:t>
            </a:r>
            <a:r>
              <a:rPr sz="1300" b="0">
                <a:solidFill>
                  <a:srgbClr val="1F2937"/>
                </a:solidFill>
                <a:latin typeface="Calibri"/>
              </a:rPr>
              <a:t>Scaling requirements for reliable quantum computing.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Error Thresholds and Correction Codes: </a:t>
            </a:r>
            <a:r>
              <a:rPr sz="1300" b="0">
                <a:solidFill>
                  <a:srgbClr val="1F2937"/>
                </a:solidFill>
                <a:latin typeface="Calibri"/>
              </a:rPr>
              <a:t>Ensuring reliable quantum computation despite noise and errors.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840480"/>
            <a:ext cx="7680960" cy="594360"/>
          </a:xfrm>
          <a:prstGeom prst="rect">
            <a:avLst/>
          </a:prstGeom>
          <a:solidFill>
            <a:srgbClr val="0B4F6C"/>
          </a:solidFill>
          <a:ln w="19050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KEY TAKEAWAY: Fault-tolerant quantum computing requires robust error correction and scalable architectures.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000" b="1">
                <a:solidFill>
                  <a:srgbClr val="27C4B8"/>
                </a:solidFill>
                <a:latin typeface="Calibri"/>
              </a:defRPr>
            </a:pPr>
            <a:r>
              <a:t>ENTERPRISE APPLICATIONS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768096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2200" b="1">
                <a:solidFill>
                  <a:srgbClr val="0B4F6C"/>
                </a:solidFill>
                <a:latin typeface="Calibri Light"/>
              </a:defRPr>
            </a:pPr>
            <a:r>
              <a:t>Enterprise Applications and Use Cases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7680960" cy="2514600"/>
          </a:xfrm>
          <a:prstGeom prst="roundRect">
            <a:avLst/>
          </a:prstGeom>
          <a:solidFill>
            <a:srgbClr val="F4F9F9"/>
          </a:solidFill>
          <a:ln w="9525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 bIns="164592"/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Post-Quantum Cryptography: </a:t>
            </a:r>
            <a:r>
              <a:rPr sz="1300" b="0">
                <a:solidFill>
                  <a:srgbClr val="1F2937"/>
                </a:solidFill>
                <a:latin typeface="Calibri"/>
              </a:rPr>
              <a:t>Secure key exchange and encryption for quantum-resistant cryptography.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Financial Portfolio Optimization: </a:t>
            </a:r>
            <a:r>
              <a:rPr sz="1300" b="0">
                <a:solidFill>
                  <a:srgbClr val="1F2937"/>
                </a:solidFill>
                <a:latin typeface="Calibri"/>
              </a:rPr>
              <a:t>Quantum speedup for complex financial modeling and optimization.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Material Simulation and Chemistry: </a:t>
            </a:r>
            <a:r>
              <a:rPr sz="1300" b="0">
                <a:solidFill>
                  <a:srgbClr val="1F2937"/>
                </a:solidFill>
                <a:latin typeface="Calibri"/>
              </a:rPr>
              <a:t>Quantum simulation for materials science and chemical discovery.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840480"/>
            <a:ext cx="7680960" cy="594360"/>
          </a:xfrm>
          <a:prstGeom prst="rect">
            <a:avLst/>
          </a:prstGeom>
          <a:solidFill>
            <a:srgbClr val="0B4F6C"/>
          </a:solidFill>
          <a:ln w="19050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KEY TAKEAWAY: Quantum computing offers significant opportunities for enterprise applications and use cases.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000" b="1">
                <a:solidFill>
                  <a:srgbClr val="27C4B8"/>
                </a:solidFill>
                <a:latin typeface="Calibri"/>
              </a:defRPr>
            </a:pPr>
            <a:r>
              <a:t>OPERATIONAL BENCHMARKS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768096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2200" b="1">
                <a:solidFill>
                  <a:srgbClr val="0B4F6C"/>
                </a:solidFill>
                <a:latin typeface="Calibri Light"/>
              </a:defRPr>
            </a:pPr>
            <a:r>
              <a:t>Operational Benchmarks and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7680960" cy="2514600"/>
          </a:xfrm>
          <a:prstGeom prst="roundRect">
            <a:avLst/>
          </a:prstGeom>
          <a:solidFill>
            <a:srgbClr val="F4F9F9"/>
          </a:solidFill>
          <a:ln w="9525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 bIns="164592"/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Quantum Volume Metrics: </a:t>
            </a:r>
            <a:r>
              <a:rPr sz="1300" b="0">
                <a:solidFill>
                  <a:srgbClr val="1F2937"/>
                </a:solidFill>
                <a:latin typeface="Calibri"/>
              </a:rPr>
              <a:t>Evaluating the performance and scalability of quantum computers.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Hardware Roadmap Timeline: </a:t>
            </a:r>
            <a:r>
              <a:rPr sz="1300" b="0">
                <a:solidFill>
                  <a:srgbClr val="1F2937"/>
                </a:solidFill>
                <a:latin typeface="Calibri"/>
              </a:rPr>
              <a:t>Projected advancements in quantum computing hardware and technology.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Operational Performance and Scalability: </a:t>
            </a:r>
            <a:r>
              <a:rPr sz="1300" b="0">
                <a:solidFill>
                  <a:srgbClr val="1F2937"/>
                </a:solidFill>
                <a:latin typeface="Calibri"/>
              </a:rPr>
              <a:t>Achieving reliable and efficient quantum computing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840480"/>
            <a:ext cx="7680960" cy="594360"/>
          </a:xfrm>
          <a:prstGeom prst="rect">
            <a:avLst/>
          </a:prstGeom>
          <a:solidFill>
            <a:srgbClr val="0B4F6C"/>
          </a:solidFill>
          <a:ln w="19050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KEY TAKEAWAY: Quantum computing requires rigorous operational benchmarks and a clear roadmap for advancement.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1000" b="1">
                <a:solidFill>
                  <a:srgbClr val="27C4B8"/>
                </a:solidFill>
                <a:latin typeface="Calibri"/>
              </a:defRPr>
            </a:pPr>
            <a:r>
              <a:t>STRATEGIC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"/>
            <a:ext cx="768096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>
              <a:defRPr sz="2200" b="1">
                <a:solidFill>
                  <a:srgbClr val="0B4F6C"/>
                </a:solidFill>
                <a:latin typeface="Calibri Light"/>
              </a:defRPr>
            </a:pPr>
            <a:r>
              <a:t>Strategic Recommendations and Governance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7680960" cy="2514600"/>
          </a:xfrm>
          <a:prstGeom prst="roundRect">
            <a:avLst/>
          </a:prstGeom>
          <a:solidFill>
            <a:srgbClr val="F4F9F9"/>
          </a:solidFill>
          <a:ln w="9525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 rIns="274320" bIns="164592"/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Quantum Computing Governance and Risk Management: </a:t>
            </a:r>
            <a:r>
              <a:rPr sz="1300" b="0">
                <a:solidFill>
                  <a:srgbClr val="1F2937"/>
                </a:solidFill>
                <a:latin typeface="Calibri"/>
              </a:rPr>
              <a:t>Ensuring responsible and secure quantum computing adoption.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Strategic Planning and Resource Allocation: </a:t>
            </a:r>
            <a:r>
              <a:rPr sz="1300" b="0">
                <a:solidFill>
                  <a:srgbClr val="1F2937"/>
                </a:solidFill>
                <a:latin typeface="Calibri"/>
              </a:rPr>
              <a:t>Prioritizing quantum computing investments and resource allocation.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0B4F6C"/>
                </a:solidFill>
                <a:latin typeface="Calibri"/>
              </a:rPr>
              <a:t>•  Immediate Enterprise Action Plan: </a:t>
            </a:r>
            <a:r>
              <a:rPr sz="1300" b="0">
                <a:solidFill>
                  <a:srgbClr val="1F2937"/>
                </a:solidFill>
                <a:latin typeface="Calibri"/>
              </a:rPr>
              <a:t>Developing a clear plan for quantum computing adoption and integration.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840480"/>
            <a:ext cx="7680960" cy="594360"/>
          </a:xfrm>
          <a:prstGeom prst="rect">
            <a:avLst/>
          </a:prstGeom>
          <a:solidFill>
            <a:srgbClr val="0B4F6C"/>
          </a:solidFill>
          <a:ln w="19050">
            <a:solidFill>
              <a:srgbClr val="27C4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l">
              <a:defRPr sz="1050" b="1">
                <a:solidFill>
                  <a:srgbClr val="FFFFFF"/>
                </a:solidFill>
                <a:latin typeface="Calibri"/>
              </a:defRPr>
            </a:pPr>
            <a:r>
              <a:t>KEY TAKEAWAY: Effective governance and strategic planning are critical for successful quantum computing adoption.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948</TotalTime>
  <Words>1</Words>
  <Application>Microsoft Office PowerPoint</Application>
  <PresentationFormat>On-screen Show (16:9)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Sans Serif Collection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IMDX – India Mobility Intelligence Exchange</dc:title>
  <dc:subject>PptxGenJS Presentation</dc:subject>
  <dc:creator>PptxGenJS</dc:creator>
  <cp:lastModifiedBy>Yogesh Umbarkar</cp:lastModifiedBy>
  <cp:revision>117</cp:revision>
  <dcterms:created xsi:type="dcterms:W3CDTF">2026-05-18T14:02:09Z</dcterms:created>
  <dcterms:modified xsi:type="dcterms:W3CDTF">2026-07-18T10:45:16Z</dcterms:modified>
</cp:coreProperties>
</file>