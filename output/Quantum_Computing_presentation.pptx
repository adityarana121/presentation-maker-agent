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293751-3916-5FD5-B827-ACC79B287C43}" name="sonal umbarkar" initials="su" userId="30fb602502d65dc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C4B8"/>
    <a:srgbClr val="2B2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64" autoAdjust="0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11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8/10/relationships/authors" Target="author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937AE6-48EB-3080-8607-75E137F5ED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26A78D-FA49-4018-1C52-A9ECBF4923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8DEB6-1D7D-466C-92D5-56E19732D7DE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4FD285-55D0-857D-C7B8-CC7A0595F2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8BAA7-3FB7-363A-99A8-7B374CF5D2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530E3-465A-4EAB-B0E0-67FD113E75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49214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30396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hyperlink" Target="http://www.tecmotivsolutions.com/" TargetMode="Externa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79278C9A-9F93-40A6-9756-D915A41032DA}"/>
              </a:ext>
            </a:extLst>
          </p:cNvPr>
          <p:cNvSpPr txBox="1"/>
          <p:nvPr userDrawn="1"/>
        </p:nvSpPr>
        <p:spPr>
          <a:xfrm>
            <a:off x="0" y="4935962"/>
            <a:ext cx="9144000" cy="20005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700" dirty="0">
                <a:solidFill>
                  <a:schemeClr val="bg1">
                    <a:lumMod val="9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July 2026	   |   Confidential   		|   Strategic Discussion Document		  |   © 2026  |              </a:t>
            </a:r>
            <a:r>
              <a:rPr lang="en-IN" sz="700" dirty="0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IN" sz="700" dirty="0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www.tecmotivsolutions.com</a:t>
            </a:r>
            <a:r>
              <a:rPr lang="en-IN" sz="700" dirty="0">
                <a:solidFill>
                  <a:schemeClr val="bg1">
                    <a:lumMod val="9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                                           </a:t>
            </a:r>
            <a:fld id="{652543D3-C09F-40A0-A7B7-6E94A10E78AD}" type="slidenum">
              <a:rPr lang="en-IN" sz="700" smtClean="0">
                <a:solidFill>
                  <a:schemeClr val="bg1">
                    <a:lumMod val="9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‹#›</a:t>
            </a:fld>
            <a:endParaRPr lang="en-IN" sz="700" dirty="0">
              <a:solidFill>
                <a:schemeClr val="bg1">
                  <a:lumMod val="95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A74B85-3B1A-19FD-F6BA-B72D213324E2}"/>
              </a:ext>
            </a:extLst>
          </p:cNvPr>
          <p:cNvSpPr/>
          <p:nvPr userDrawn="1"/>
        </p:nvSpPr>
        <p:spPr>
          <a:xfrm>
            <a:off x="0" y="4917556"/>
            <a:ext cx="9144000" cy="27432"/>
          </a:xfrm>
          <a:prstGeom prst="rect">
            <a:avLst/>
          </a:prstGeom>
          <a:solidFill>
            <a:srgbClr val="27C4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676816-07C2-9EEE-5FEC-E128032EED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69956" y="-27431"/>
            <a:ext cx="674043" cy="67404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C4B8"/>
                </a:solidFill>
                <a:latin typeface="Calibri"/>
              </a:defRPr>
            </a:pPr>
            <a: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4F6C"/>
                </a:solidFill>
                <a:latin typeface="Calibri Light"/>
              </a:defRPr>
            </a:pPr>
            <a:r>
              <a:t>Quantum Computing: Strategic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468880"/>
            <a:ext cx="2286000" cy="36576"/>
          </a:xfrm>
          <a:prstGeom prst="rect">
            <a:avLst/>
          </a:prstGeom>
          <a:solidFill>
            <a:srgbClr val="27C4B8"/>
          </a:solidFill>
          <a:ln>
            <a:solidFill>
              <a:srgbClr val="27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7680960" cy="1371600"/>
          </a:xfrm>
          <a:prstGeom prst="roundRect">
            <a:avLst/>
          </a:prstGeom>
          <a:solidFill>
            <a:srgbClr val="F4F9F9"/>
          </a:solidFill>
          <a:ln w="12700">
            <a:solidFill>
              <a:srgbClr val="27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l"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Presented by: Tecmotiv Strategic Advisory</a:t>
            </a:r>
          </a:p>
          <a:p>
            <a:pPr algn="l"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Date: July 2026</a:t>
            </a:r>
          </a:p>
          <a:p>
            <a:pPr algn="l"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Strategic Objective: Quantum Computing Executive Discussion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000" b="1">
                <a:solidFill>
                  <a:srgbClr val="27C4B8"/>
                </a:solidFill>
                <a:latin typeface="Calibri"/>
              </a:defRPr>
            </a:pPr>
            <a:r>
              <a:t>CLASSICAL COMPUTING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768096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800" b="1">
                <a:solidFill>
                  <a:srgbClr val="0B4F6C"/>
                </a:solidFill>
                <a:latin typeface="Calibri Light"/>
              </a:defRPr>
            </a:pPr>
            <a:r>
              <a:t>Classical Computing Limitations and Quantum Opportunities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53312"/>
            <a:ext cx="7680960" cy="2395728"/>
          </a:xfrm>
          <a:prstGeom prst="roundRect">
            <a:avLst/>
          </a:prstGeom>
          <a:solidFill>
            <a:srgbClr val="F4F9F9"/>
          </a:solidFill>
          <a:ln w="9525">
            <a:solidFill>
              <a:srgbClr val="27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 bIns="164592"/>
          <a:lstStyle/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Exponential Scaling Challenges: </a:t>
            </a:r>
            <a:r>
              <a:rPr sz="1150" b="0">
                <a:solidFill>
                  <a:srgbClr val="1F2937"/>
                </a:solidFill>
                <a:latin typeface="Calibri"/>
              </a:rPr>
              <a:t>Classical systems face exponential scaling challenges due to the exponential growth of computational complexity.</a:t>
            </a:r>
          </a:p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Noise and Decoherence: </a:t>
            </a:r>
            <a:r>
              <a:rPr sz="1150" b="0">
                <a:solidFill>
                  <a:srgbClr val="1F2937"/>
                </a:solidFill>
                <a:latin typeface="Calibri"/>
              </a:rPr>
              <a:t>Classical systems are prone to noise and decoherence, leading to errors and reduced computational accuracy.</a:t>
            </a:r>
          </a:p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Quantum Computing as a Solution: </a:t>
            </a:r>
            <a:r>
              <a:rPr sz="1150" b="0">
                <a:solidFill>
                  <a:srgbClr val="1F2937"/>
                </a:solidFill>
                <a:latin typeface="Calibri"/>
              </a:rPr>
              <a:t>Quantum computing offers a solution to these challenges through the use of qubits and quantum gates.</a:t>
            </a:r>
          </a:p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Quantum Advantage: </a:t>
            </a:r>
            <a:r>
              <a:rPr sz="1150" b="0">
                <a:solidFill>
                  <a:srgbClr val="1F2937"/>
                </a:solidFill>
                <a:latin typeface="Calibri"/>
              </a:rPr>
              <a:t>Quantum computing can provide a significant advantage over classical computing for certain problems, such as factoring large numbers.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7680960" cy="594360"/>
          </a:xfrm>
          <a:prstGeom prst="rect">
            <a:avLst/>
          </a:prstGeom>
          <a:solidFill>
            <a:srgbClr val="0B4F6C"/>
          </a:solidFill>
          <a:ln w="19050">
            <a:solidFill>
              <a:srgbClr val="27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l">
              <a:defRPr sz="1050" b="1">
                <a:solidFill>
                  <a:srgbClr val="FFFFFF"/>
                </a:solidFill>
                <a:latin typeface="Calibri"/>
              </a:defRPr>
            </a:pPr>
            <a:r>
              <a:t>KEY TAKEAWAY: Classical computing has limitations that quantum computing can address.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000" b="1">
                <a:solidFill>
                  <a:srgbClr val="27C4B8"/>
                </a:solidFill>
                <a:latin typeface="Calibri"/>
              </a:defRPr>
            </a:pPr>
            <a:r>
              <a:t>HARDWARE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768096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800" b="1">
                <a:solidFill>
                  <a:srgbClr val="0B4F6C"/>
                </a:solidFill>
                <a:latin typeface="Calibri Light"/>
              </a:defRPr>
            </a:pPr>
            <a:r>
              <a:t>Quantum Hardware Architectures and Qubit Implementations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53312"/>
            <a:ext cx="7680960" cy="2395728"/>
          </a:xfrm>
          <a:prstGeom prst="roundRect">
            <a:avLst/>
          </a:prstGeom>
          <a:solidFill>
            <a:srgbClr val="F4F9F9"/>
          </a:solidFill>
          <a:ln w="9525">
            <a:solidFill>
              <a:srgbClr val="27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 bIns="164592"/>
          <a:lstStyle/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Superconducting Circuits: </a:t>
            </a:r>
            <a:r>
              <a:rPr sz="1150" b="0">
                <a:solidFill>
                  <a:srgbClr val="1F2937"/>
                </a:solidFill>
                <a:latin typeface="Calibri"/>
              </a:rPr>
              <a:t>Superconducting circuits are a common implementation of qubits, using Josephson junctions to create a superconducting loop.</a:t>
            </a:r>
          </a:p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Trapped Ion Architectures: </a:t>
            </a:r>
            <a:r>
              <a:rPr sz="1150" b="0">
                <a:solidFill>
                  <a:srgbClr val="1F2937"/>
                </a:solidFill>
                <a:latin typeface="Calibri"/>
              </a:rPr>
              <a:t>Trapped ion architectures use ions trapped in electromagnetic fields to create a qubit.</a:t>
            </a:r>
          </a:p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Quantum Dot Implementations: </a:t>
            </a:r>
            <a:r>
              <a:rPr sz="1150" b="0">
                <a:solidFill>
                  <a:srgbClr val="1F2937"/>
                </a:solidFill>
                <a:latin typeface="Calibri"/>
              </a:rPr>
              <a:t>Quantum dot implementations use semiconductor nanocrystals to create a qubit.</a:t>
            </a:r>
          </a:p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Topological Quantum Computing: </a:t>
            </a:r>
            <a:r>
              <a:rPr sz="1150" b="0">
                <a:solidFill>
                  <a:srgbClr val="1F2937"/>
                </a:solidFill>
                <a:latin typeface="Calibri"/>
              </a:rPr>
              <a:t>Topological quantum computing uses exotic materials to create a qubit that is resistant to decoherence.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7680960" cy="594360"/>
          </a:xfrm>
          <a:prstGeom prst="rect">
            <a:avLst/>
          </a:prstGeom>
          <a:solidFill>
            <a:srgbClr val="0B4F6C"/>
          </a:solidFill>
          <a:ln w="19050">
            <a:solidFill>
              <a:srgbClr val="27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l">
              <a:defRPr sz="1050" b="1">
                <a:solidFill>
                  <a:srgbClr val="FFFFFF"/>
                </a:solidFill>
                <a:latin typeface="Calibri"/>
              </a:defRPr>
            </a:pPr>
            <a:r>
              <a:t>KEY TAKEAWAY: There are various hardware architectures and qubit implementations in quantum computing.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000" b="1">
                <a:solidFill>
                  <a:srgbClr val="27C4B8"/>
                </a:solidFill>
                <a:latin typeface="Calibri"/>
              </a:defRPr>
            </a:pPr>
            <a:r>
              <a:t>QUANTUM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768096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800" b="1">
                <a:solidFill>
                  <a:srgbClr val="0B4F6C"/>
                </a:solidFill>
                <a:latin typeface="Calibri Light"/>
              </a:defRPr>
            </a:pPr>
            <a:r>
              <a:t>Quantum Algorithms and Computational Speedups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53312"/>
            <a:ext cx="7680960" cy="2395728"/>
          </a:xfrm>
          <a:prstGeom prst="roundRect">
            <a:avLst/>
          </a:prstGeom>
          <a:solidFill>
            <a:srgbClr val="F4F9F9"/>
          </a:solidFill>
          <a:ln w="9525">
            <a:solidFill>
              <a:srgbClr val="27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 bIns="164592"/>
          <a:lstStyle/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Shor's Algorithm: </a:t>
            </a:r>
            <a:r>
              <a:rPr sz="1150" b="0">
                <a:solidFill>
                  <a:srgbClr val="1F2937"/>
                </a:solidFill>
                <a:latin typeface="Calibri"/>
              </a:rPr>
              <a:t>Shor's algorithm is a quantum algorithm for factoring large numbers exponentially faster than classical algorithms.</a:t>
            </a:r>
          </a:p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Grover's Algorithm: </a:t>
            </a:r>
            <a:r>
              <a:rPr sz="1150" b="0">
                <a:solidFill>
                  <a:srgbClr val="1F2937"/>
                </a:solidFill>
                <a:latin typeface="Calibri"/>
              </a:rPr>
              <a:t>Grover's algorithm is a quantum algorithm for searching an unsorted database exponentially faster than classical algorithms.</a:t>
            </a:r>
          </a:p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Quantum Simulation: </a:t>
            </a:r>
            <a:r>
              <a:rPr sz="1150" b="0">
                <a:solidFill>
                  <a:srgbClr val="1F2937"/>
                </a:solidFill>
                <a:latin typeface="Calibri"/>
              </a:rPr>
              <a:t>Quantum simulation is a quantum algorithm for simulating complex quantum systems exponentially faster than classical algorithms.</a:t>
            </a:r>
          </a:p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Quantum Optimization: </a:t>
            </a:r>
            <a:r>
              <a:rPr sz="1150" b="0">
                <a:solidFill>
                  <a:srgbClr val="1F2937"/>
                </a:solidFill>
                <a:latin typeface="Calibri"/>
              </a:rPr>
              <a:t>Quantum optimization is a quantum algorithm for solving complex optimization problems exponentially faster than classical algorithms.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7680960" cy="594360"/>
          </a:xfrm>
          <a:prstGeom prst="rect">
            <a:avLst/>
          </a:prstGeom>
          <a:solidFill>
            <a:srgbClr val="0B4F6C"/>
          </a:solidFill>
          <a:ln w="19050">
            <a:solidFill>
              <a:srgbClr val="27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l">
              <a:defRPr sz="1050" b="1">
                <a:solidFill>
                  <a:srgbClr val="FFFFFF"/>
                </a:solidFill>
                <a:latin typeface="Calibri"/>
              </a:defRPr>
            </a:pPr>
            <a:r>
              <a:t>KEY TAKEAWAY: Quantum algorithms can provide significant speedups over classical algorithms for certain problems.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000" b="1">
                <a:solidFill>
                  <a:srgbClr val="27C4B8"/>
                </a:solidFill>
                <a:latin typeface="Calibri"/>
              </a:defRPr>
            </a:pPr>
            <a:r>
              <a:t>FAULT TOLERANCE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768096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800" b="1">
                <a:solidFill>
                  <a:srgbClr val="0B4F6C"/>
                </a:solidFill>
                <a:latin typeface="Calibri Light"/>
              </a:defRPr>
            </a:pPr>
            <a:r>
              <a:t>Fault-Tolerant Quantum Computing and Error Correction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53312"/>
            <a:ext cx="7680960" cy="2395728"/>
          </a:xfrm>
          <a:prstGeom prst="roundRect">
            <a:avLst/>
          </a:prstGeom>
          <a:solidFill>
            <a:srgbClr val="F4F9F9"/>
          </a:solidFill>
          <a:ln w="9525">
            <a:solidFill>
              <a:srgbClr val="27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 bIns="164592"/>
          <a:lstStyle/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Surface Code Topologies: </a:t>
            </a:r>
            <a:r>
              <a:rPr sz="1150" b="0">
                <a:solidFill>
                  <a:srgbClr val="1F2937"/>
                </a:solidFill>
                <a:latin typeface="Calibri"/>
              </a:rPr>
              <a:t>Surface code topologies are a method of error correction in quantum computing, using a lattice of qubits to detect and correct errors.</a:t>
            </a:r>
          </a:p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Physical-to-Logical Qubit Overhead: </a:t>
            </a:r>
            <a:r>
              <a:rPr sz="1150" b="0">
                <a:solidFill>
                  <a:srgbClr val="1F2937"/>
                </a:solidFill>
                <a:latin typeface="Calibri"/>
              </a:rPr>
              <a:t>Physical-to-logical qubit overhead is a measure of the number of physical qubits required to implement a logical qubit.</a:t>
            </a:r>
          </a:p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Error Thresholds: </a:t>
            </a:r>
            <a:r>
              <a:rPr sz="1150" b="0">
                <a:solidFill>
                  <a:srgbClr val="1F2937"/>
                </a:solidFill>
                <a:latin typeface="Calibri"/>
              </a:rPr>
              <a:t>Error thresholds are a measure of the maximum error rate that can be tolerated in a quantum computer before it becomes unreliable.</a:t>
            </a:r>
          </a:p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Quantum Error Correction Codes: </a:t>
            </a:r>
            <a:r>
              <a:rPr sz="1150" b="0">
                <a:solidFill>
                  <a:srgbClr val="1F2937"/>
                </a:solidFill>
                <a:latin typeface="Calibri"/>
              </a:rPr>
              <a:t>Quantum error correction codes are a method of correcting errors in quantum computing, using redundant information to detect and correct errors.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7680960" cy="594360"/>
          </a:xfrm>
          <a:prstGeom prst="rect">
            <a:avLst/>
          </a:prstGeom>
          <a:solidFill>
            <a:srgbClr val="0B4F6C"/>
          </a:solidFill>
          <a:ln w="19050">
            <a:solidFill>
              <a:srgbClr val="27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l">
              <a:defRPr sz="1050" b="1">
                <a:solidFill>
                  <a:srgbClr val="FFFFFF"/>
                </a:solidFill>
                <a:latin typeface="Calibri"/>
              </a:defRPr>
            </a:pPr>
            <a:r>
              <a:t>KEY TAKEAWAY: Fault-tolerant quantum computing requires robust error correction mechanisms.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000" b="1">
                <a:solidFill>
                  <a:srgbClr val="27C4B8"/>
                </a:solidFill>
                <a:latin typeface="Calibri"/>
              </a:defRPr>
            </a:pPr>
            <a:r>
              <a:t>ENTERPRISE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768096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800" b="1">
                <a:solidFill>
                  <a:srgbClr val="0B4F6C"/>
                </a:solidFill>
                <a:latin typeface="Calibri Light"/>
              </a:defRPr>
            </a:pPr>
            <a:r>
              <a:t>Practical Enterprise Applications and Industry Use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53312"/>
            <a:ext cx="7680960" cy="2395728"/>
          </a:xfrm>
          <a:prstGeom prst="roundRect">
            <a:avLst/>
          </a:prstGeom>
          <a:solidFill>
            <a:srgbClr val="F4F9F9"/>
          </a:solidFill>
          <a:ln w="9525">
            <a:solidFill>
              <a:srgbClr val="27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 bIns="164592"/>
          <a:lstStyle/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Post-Quantum Cryptography: </a:t>
            </a:r>
            <a:r>
              <a:rPr sz="1150" b="0">
                <a:solidFill>
                  <a:srgbClr val="1F2937"/>
                </a:solidFill>
                <a:latin typeface="Calibri"/>
              </a:rPr>
              <a:t>Post-quantum cryptography is a method of secure communication that is resistant to quantum attacks.</a:t>
            </a:r>
          </a:p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Financial Portfolio Optimization: </a:t>
            </a:r>
            <a:r>
              <a:rPr sz="1150" b="0">
                <a:solidFill>
                  <a:srgbClr val="1F2937"/>
                </a:solidFill>
                <a:latin typeface="Calibri"/>
              </a:rPr>
              <a:t>Financial portfolio optimization is a method of optimizing investment portfolios using quantum computing.</a:t>
            </a:r>
          </a:p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Materials Science Simulation: </a:t>
            </a:r>
            <a:r>
              <a:rPr sz="1150" b="0">
                <a:solidFill>
                  <a:srgbClr val="1F2937"/>
                </a:solidFill>
                <a:latin typeface="Calibri"/>
              </a:rPr>
              <a:t>Materials science simulation is a method of simulating the properties of materials using quantum computing.</a:t>
            </a:r>
          </a:p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Logistics Optimization: </a:t>
            </a:r>
            <a:r>
              <a:rPr sz="1150" b="0">
                <a:solidFill>
                  <a:srgbClr val="1F2937"/>
                </a:solidFill>
                <a:latin typeface="Calibri"/>
              </a:rPr>
              <a:t>Logistics optimization is a method of optimizing supply chain management using quantum computing.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7680960" cy="594360"/>
          </a:xfrm>
          <a:prstGeom prst="rect">
            <a:avLst/>
          </a:prstGeom>
          <a:solidFill>
            <a:srgbClr val="0B4F6C"/>
          </a:solidFill>
          <a:ln w="19050">
            <a:solidFill>
              <a:srgbClr val="27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l">
              <a:defRPr sz="1050" b="1">
                <a:solidFill>
                  <a:srgbClr val="FFFFFF"/>
                </a:solidFill>
                <a:latin typeface="Calibri"/>
              </a:defRPr>
            </a:pPr>
            <a:r>
              <a:t>KEY TAKEAWAY: Quantum computing has practical applications in various industries.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000" b="1">
                <a:solidFill>
                  <a:srgbClr val="27C4B8"/>
                </a:solidFill>
                <a:latin typeface="Calibri"/>
              </a:defRPr>
            </a:pPr>
            <a:r>
              <a:t>BENCHMARKS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768096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800" b="1">
                <a:solidFill>
                  <a:srgbClr val="0B4F6C"/>
                </a:solidFill>
                <a:latin typeface="Calibri Light"/>
              </a:defRPr>
            </a:pPr>
            <a:r>
              <a:t>Operational Benchmarks and Quantum Volume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53312"/>
            <a:ext cx="7680960" cy="2395728"/>
          </a:xfrm>
          <a:prstGeom prst="roundRect">
            <a:avLst/>
          </a:prstGeom>
          <a:solidFill>
            <a:srgbClr val="F4F9F9"/>
          </a:solidFill>
          <a:ln w="9525">
            <a:solidFill>
              <a:srgbClr val="27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 bIns="164592"/>
          <a:lstStyle/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Quantum Volume: </a:t>
            </a:r>
            <a:r>
              <a:rPr sz="1150" b="0">
                <a:solidFill>
                  <a:srgbClr val="1F2937"/>
                </a:solidFill>
                <a:latin typeface="Calibri"/>
              </a:rPr>
              <a:t>Quantum volume is a measure of the computational power of a quantum computer, using the number of qubits and the number of cycles.</a:t>
            </a:r>
          </a:p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Operational Benchmarks: </a:t>
            </a:r>
            <a:r>
              <a:rPr sz="1150" b="0">
                <a:solidFill>
                  <a:srgbClr val="1F2937"/>
                </a:solidFill>
                <a:latin typeface="Calibri"/>
              </a:rPr>
              <a:t>Operational benchmarks are a measure of the performance of a quantum computer, using metrics such as error rates and fidelity.</a:t>
            </a:r>
          </a:p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Hardware Roadmap: </a:t>
            </a:r>
            <a:r>
              <a:rPr sz="1150" b="0">
                <a:solidFill>
                  <a:srgbClr val="1F2937"/>
                </a:solidFill>
                <a:latin typeface="Calibri"/>
              </a:rPr>
              <a:t>The hardware roadmap is a plan for the development and deployment of quantum computers, including timelines and milestones.</a:t>
            </a:r>
          </a:p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Performance Metrics: </a:t>
            </a:r>
            <a:r>
              <a:rPr sz="1150" b="0">
                <a:solidFill>
                  <a:srgbClr val="1F2937"/>
                </a:solidFill>
                <a:latin typeface="Calibri"/>
              </a:rPr>
              <a:t>Performance metrics are a measure of the performance of a quantum computer, using metrics such as quantum volume and operational benchmarks.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7680960" cy="594360"/>
          </a:xfrm>
          <a:prstGeom prst="rect">
            <a:avLst/>
          </a:prstGeom>
          <a:solidFill>
            <a:srgbClr val="0B4F6C"/>
          </a:solidFill>
          <a:ln w="19050">
            <a:solidFill>
              <a:srgbClr val="27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l">
              <a:defRPr sz="1050" b="1">
                <a:solidFill>
                  <a:srgbClr val="FFFFFF"/>
                </a:solidFill>
                <a:latin typeface="Calibri"/>
              </a:defRPr>
            </a:pPr>
            <a:r>
              <a:t>KEY TAKEAWAY: Quantum computing has operational benchmarks and metrics to measure its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000" b="1">
                <a:solidFill>
                  <a:srgbClr val="27C4B8"/>
                </a:solidFill>
                <a:latin typeface="Calibri"/>
              </a:defRPr>
            </a:pPr>
            <a:r>
              <a:t>STRATEGIC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768096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defRPr sz="1800" b="1">
                <a:solidFill>
                  <a:srgbClr val="0B4F6C"/>
                </a:solidFill>
                <a:latin typeface="Calibri Light"/>
              </a:defRPr>
            </a:pPr>
            <a:r>
              <a:t>Strategic Recommendations and Enterprise Action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53312"/>
            <a:ext cx="7680960" cy="2395728"/>
          </a:xfrm>
          <a:prstGeom prst="roundRect">
            <a:avLst/>
          </a:prstGeom>
          <a:solidFill>
            <a:srgbClr val="F4F9F9"/>
          </a:solidFill>
          <a:ln w="9525">
            <a:solidFill>
              <a:srgbClr val="27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 bIns="164592"/>
          <a:lstStyle/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Quantum Computing Governance: </a:t>
            </a:r>
            <a:r>
              <a:rPr sz="1150" b="0">
                <a:solidFill>
                  <a:srgbClr val="1F2937"/>
                </a:solidFill>
                <a:latin typeface="Calibri"/>
              </a:rPr>
              <a:t>Quantum computing governance is a framework for managing the development and deployment of quantum computers, including risk management and security.</a:t>
            </a:r>
          </a:p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Immediate Action Plan: </a:t>
            </a:r>
            <a:r>
              <a:rPr sz="1150" b="0">
                <a:solidFill>
                  <a:srgbClr val="1F2937"/>
                </a:solidFill>
                <a:latin typeface="Calibri"/>
              </a:rPr>
              <a:t>The immediate action plan is a plan for the short-term development and deployment of quantum computers, including timelines and milestones.</a:t>
            </a:r>
          </a:p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Key Performance Indicators: </a:t>
            </a:r>
            <a:r>
              <a:rPr sz="1150" b="0">
                <a:solidFill>
                  <a:srgbClr val="1F2937"/>
                </a:solidFill>
                <a:latin typeface="Calibri"/>
              </a:rPr>
              <a:t>Key performance indicators are a measure of the performance of a quantum computer, using metrics such as quantum volume and operational benchmarks.</a:t>
            </a:r>
          </a:p>
          <a:p>
            <a:pPr algn="l">
              <a:spcAft>
                <a:spcPts val="450"/>
              </a:spcAft>
            </a:pPr>
            <a:r>
              <a:rPr sz="1150" b="1">
                <a:solidFill>
                  <a:srgbClr val="0B4F6C"/>
                </a:solidFill>
                <a:latin typeface="Calibri"/>
              </a:rPr>
              <a:t>•  Risk Management: </a:t>
            </a:r>
            <a:r>
              <a:rPr sz="1150" b="0">
                <a:solidFill>
                  <a:srgbClr val="1F2937"/>
                </a:solidFill>
                <a:latin typeface="Calibri"/>
              </a:rPr>
              <a:t>Risk management is a framework for managing the risks associated with quantum computing, including security and regulatory risks.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7680960" cy="594360"/>
          </a:xfrm>
          <a:prstGeom prst="rect">
            <a:avLst/>
          </a:prstGeom>
          <a:solidFill>
            <a:srgbClr val="0B4F6C"/>
          </a:solidFill>
          <a:ln w="19050">
            <a:solidFill>
              <a:srgbClr val="27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l">
              <a:defRPr sz="1050" b="1">
                <a:solidFill>
                  <a:srgbClr val="FFFFFF"/>
                </a:solidFill>
                <a:latin typeface="Calibri"/>
              </a:defRPr>
            </a:pPr>
            <a:r>
              <a:t>KEY TAKEAWAY: A strategic plan is necessary for the development and deployment of quantum computers.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</TotalTime>
  <Words>1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Sans Serif Collection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IMDX – India Mobility Intelligence Exchange</dc:title>
  <dc:subject>PptxGenJS Presentation</dc:subject>
  <dc:creator>PptxGenJS</dc:creator>
  <cp:lastModifiedBy>Yogesh Umbarkar</cp:lastModifiedBy>
  <cp:revision>117</cp:revision>
  <dcterms:created xsi:type="dcterms:W3CDTF">2026-05-18T14:02:09Z</dcterms:created>
  <dcterms:modified xsi:type="dcterms:W3CDTF">2026-07-18T10:45:16Z</dcterms:modified>
</cp:coreProperties>
</file>